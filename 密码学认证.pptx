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9" r:id="rId4"/>
    <p:sldId id="257" r:id="rId5"/>
    <p:sldId id="260" r:id="rId6"/>
    <p:sldId id="261" r:id="rId7"/>
    <p:sldId id="263" r:id="rId8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51"/>
    <p:restoredTop sz="86433"/>
  </p:normalViewPr>
  <p:slideViewPr>
    <p:cSldViewPr snapToGrid="0" showGuides="1">
      <p:cViewPr varScale="1">
        <p:scale>
          <a:sx n="81" d="100"/>
          <a:sy n="81" d="100"/>
        </p:scale>
        <p:origin x="-744" y="-96"/>
      </p:cViewPr>
      <p:guideLst>
        <p:guide orient="horz" pos="2187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1026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053" name="图片 2052" descr="a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0" name="标题 2049"/>
          <p:cNvSpPr>
            <a:spLocks noGrp="1"/>
          </p:cNvSpPr>
          <p:nvPr>
            <p:ph type="ctrTitle"/>
          </p:nvPr>
        </p:nvSpPr>
        <p:spPr>
          <a:xfrm>
            <a:off x="755650" y="2349500"/>
            <a:ext cx="7632700" cy="1470025"/>
          </a:xfrm>
        </p:spPr>
        <p:txBody>
          <a:bodyPr anchor="ctr" anchorCtr="0"/>
          <a:p>
            <a:pPr defTabSz="914400">
              <a:buClrTx/>
              <a:buSzTx/>
              <a:buFontTx/>
              <a:buNone/>
            </a:pPr>
            <a:r>
              <a:rPr kumimoji="1" lang="zh-CN" altLang="en-US" sz="4400" b="1" spc="300" dirty="0" smtClean="0">
                <a:gradFill>
                  <a:gsLst>
                    <a:gs pos="0">
                      <a:srgbClr val="5B9BD5">
                        <a:lumMod val="50000"/>
                      </a:srgbClr>
                    </a:gs>
                    <a:gs pos="99000">
                      <a:srgbClr val="002060"/>
                    </a:gs>
                  </a:gsLst>
                  <a:lin ang="5400000" scaled="1"/>
                </a:gra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无线网络上下层联动的身份认证技术</a:t>
            </a:r>
            <a:endParaRPr sz="4400" kern="1200" baseline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048000" y="5091430"/>
            <a:ext cx="3048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月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sym typeface="+mn-ea"/>
              </a:rPr>
              <a:t>26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日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10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组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077" name="图片 3076" descr="a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4" name="标题 3073"/>
          <p:cNvSpPr>
            <a:spLocks noGrp="1"/>
          </p:cNvSpPr>
          <p:nvPr>
            <p:ph type="title"/>
          </p:nvPr>
        </p:nvSpPr>
        <p:spPr>
          <a:xfrm>
            <a:off x="7596188" y="260350"/>
            <a:ext cx="1090612" cy="287338"/>
          </a:xfrm>
        </p:spPr>
        <p:txBody>
          <a:bodyPr anchor="ctr" anchorCtr="0"/>
          <a:p>
            <a:pPr algn="r"/>
            <a:r>
              <a:rPr lang="zh-CN" alt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实验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进展</a:t>
            </a:r>
            <a:endParaRPr lang="zh-CN" altLang="en-US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0263" y="2011363"/>
            <a:ext cx="4943475" cy="283527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051685" y="1674495"/>
            <a:ext cx="11010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b="1"/>
              <a:t>Client</a:t>
            </a:r>
            <a:endParaRPr lang="en-US" altLang="zh-CN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6078855" y="1674495"/>
            <a:ext cx="9652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b="1"/>
              <a:t>Server</a:t>
            </a:r>
            <a:endParaRPr lang="en-US" altLang="zh-CN" sz="1600" b="1"/>
          </a:p>
        </p:txBody>
      </p:sp>
      <p:sp>
        <p:nvSpPr>
          <p:cNvPr id="7" name="文本框 6"/>
          <p:cNvSpPr txBox="1"/>
          <p:nvPr/>
        </p:nvSpPr>
        <p:spPr>
          <a:xfrm>
            <a:off x="7620" y="1197610"/>
            <a:ext cx="2100580" cy="36417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30000"/>
              </a:lnSpc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0. </a:t>
            </a:r>
            <a:r>
              <a:rPr lang="zh-CN" altLang="zh-CN" sz="1600">
                <a:latin typeface="微软雅黑" panose="020B0503020204020204" charset="-122"/>
                <a:ea typeface="微软雅黑" panose="020B0503020204020204" charset="-122"/>
              </a:rPr>
              <a:t>生成公私钥与注册</a:t>
            </a:r>
            <a:br>
              <a:rPr lang="zh-CN" altLang="zh-CN" sz="1600">
                <a:latin typeface="微软雅黑" panose="020B0503020204020204" charset="-122"/>
                <a:ea typeface="微软雅黑" panose="020B0503020204020204" charset="-122"/>
              </a:rPr>
            </a:br>
            <a:r>
              <a:rPr lang="en-US" altLang="zh-CN" sz="1600">
                <a:highlight>
                  <a:srgbClr val="C0C0C0"/>
                </a:highlight>
                <a:latin typeface="微软雅黑" panose="020B0503020204020204" charset="-122"/>
                <a:ea typeface="微软雅黑" panose="020B0503020204020204" charset="-122"/>
              </a:rPr>
              <a:t>generate_keys()</a:t>
            </a:r>
            <a:endParaRPr lang="en-US" altLang="zh-CN" sz="1600">
              <a:highlight>
                <a:srgbClr val="C0C0C0"/>
              </a:highlight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600">
                <a:highlight>
                  <a:srgbClr val="C0C0C0"/>
                </a:highlight>
                <a:latin typeface="微软雅黑" panose="020B0503020204020204" charset="-122"/>
                <a:ea typeface="微软雅黑" panose="020B0503020204020204" charset="-122"/>
              </a:rPr>
              <a:t>register(user_id, pub_key)</a:t>
            </a:r>
            <a:endParaRPr lang="en-US" altLang="zh-CN" sz="1600">
              <a:highlight>
                <a:srgbClr val="C0C0C0"/>
              </a:highlight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endParaRPr lang="en-US" altLang="zh-CN" sz="1600">
              <a:highlight>
                <a:srgbClr val="C0C0C0"/>
              </a:highlight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1.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接入请求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600">
                <a:highlight>
                  <a:srgbClr val="C0C0C0"/>
                </a:highlight>
                <a:latin typeface="微软雅黑" panose="020B0503020204020204" charset="-122"/>
                <a:ea typeface="微软雅黑" panose="020B0503020204020204" charset="-122"/>
              </a:rPr>
              <a:t>authenticate()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3. RSA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签名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600">
                <a:highlight>
                  <a:srgbClr val="C0C0C0"/>
                </a:highlight>
                <a:latin typeface="微软雅黑" panose="020B0503020204020204" charset="-122"/>
                <a:ea typeface="微软雅黑" panose="020B0503020204020204" charset="-122"/>
              </a:rPr>
              <a:t>rsa.sign(challenge, priv_key, 'SHA-1')</a:t>
            </a:r>
            <a:endParaRPr lang="en-US" altLang="zh-CN" sz="1600">
              <a:highlight>
                <a:srgbClr val="C0C0C0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044055" y="3285490"/>
            <a:ext cx="2100580" cy="17894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30000"/>
              </a:lnSpc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2.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随机数挑战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600">
                <a:highlight>
                  <a:srgbClr val="C0C0C0"/>
                </a:highlight>
                <a:latin typeface="微软雅黑" panose="020B0503020204020204" charset="-122"/>
                <a:ea typeface="微软雅黑" panose="020B0503020204020204" charset="-122"/>
              </a:rPr>
              <a:t>os.urandom(32)</a:t>
            </a:r>
            <a:endParaRPr lang="en-US" altLang="zh-CN" sz="1600">
              <a:highlight>
                <a:srgbClr val="C0C0C0"/>
              </a:highlight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endParaRPr lang="zh-CN" altLang="en-US" sz="160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4.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公钥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验证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600">
                <a:highlight>
                  <a:srgbClr val="C0C0C0"/>
                </a:highlight>
                <a:latin typeface="微软雅黑" panose="020B0503020204020204" charset="-122"/>
                <a:ea typeface="微软雅黑" panose="020B0503020204020204" charset="-122"/>
              </a:rPr>
              <a:t>rsa.verify(challenge, signature, pub_key)</a:t>
            </a:r>
            <a:endParaRPr lang="en-US" altLang="zh-CN" sz="1600">
              <a:highlight>
                <a:srgbClr val="C0C0C0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077" name="图片 3076" descr="a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4" name="标题 3073"/>
          <p:cNvSpPr>
            <a:spLocks noGrp="1"/>
          </p:cNvSpPr>
          <p:nvPr>
            <p:ph type="title"/>
          </p:nvPr>
        </p:nvSpPr>
        <p:spPr>
          <a:xfrm>
            <a:off x="6818630" y="260350"/>
            <a:ext cx="1868170" cy="287655"/>
          </a:xfrm>
        </p:spPr>
        <p:txBody>
          <a:bodyPr anchor="ctr" anchorCtr="0"/>
          <a:p>
            <a:pPr algn="r"/>
            <a:r>
              <a:rPr lang="en-US" altLang="zh-CN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Client</a:t>
            </a:r>
            <a:endParaRPr lang="en-US" altLang="zh-CN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635" y="2154555"/>
            <a:ext cx="4444365" cy="2548890"/>
          </a:xfrm>
          <a:prstGeom prst="rect">
            <a:avLst/>
          </a:prstGeom>
        </p:spPr>
      </p:pic>
      <p:sp>
        <p:nvSpPr>
          <p:cNvPr id="41" name="文本框 40"/>
          <p:cNvSpPr txBox="1"/>
          <p:nvPr/>
        </p:nvSpPr>
        <p:spPr>
          <a:xfrm>
            <a:off x="0" y="908685"/>
            <a:ext cx="4572000" cy="357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/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92250"/>
            <a:ext cx="4466590" cy="3873500"/>
          </a:xfrm>
          <a:prstGeom prst="rect">
            <a:avLst/>
          </a:prstGeom>
        </p:spPr>
      </p:pic>
      <p:sp>
        <p:nvSpPr>
          <p:cNvPr id="45" name="矩形 44"/>
          <p:cNvSpPr/>
          <p:nvPr/>
        </p:nvSpPr>
        <p:spPr>
          <a:xfrm>
            <a:off x="5616575" y="2426970"/>
            <a:ext cx="2720340" cy="42291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077" name="图片 3076" descr="a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4" name="标题 3073"/>
          <p:cNvSpPr>
            <a:spLocks noGrp="1"/>
          </p:cNvSpPr>
          <p:nvPr>
            <p:ph type="title"/>
          </p:nvPr>
        </p:nvSpPr>
        <p:spPr>
          <a:xfrm>
            <a:off x="6818630" y="260350"/>
            <a:ext cx="1868170" cy="287655"/>
          </a:xfrm>
        </p:spPr>
        <p:txBody>
          <a:bodyPr anchor="ctr" anchorCtr="0"/>
          <a:p>
            <a:pPr algn="r"/>
            <a:r>
              <a:rPr 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Client</a:t>
            </a:r>
            <a:endParaRPr lang="en-US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635" y="2154555"/>
            <a:ext cx="4444365" cy="2548890"/>
          </a:xfrm>
          <a:prstGeom prst="rect">
            <a:avLst/>
          </a:prstGeom>
        </p:spPr>
      </p:pic>
      <p:sp>
        <p:nvSpPr>
          <p:cNvPr id="41" name="文本框 40"/>
          <p:cNvSpPr txBox="1"/>
          <p:nvPr/>
        </p:nvSpPr>
        <p:spPr>
          <a:xfrm>
            <a:off x="0" y="908685"/>
            <a:ext cx="4572000" cy="357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 sz="18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35990"/>
            <a:ext cx="3805555" cy="592201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4783455" y="2193290"/>
            <a:ext cx="678815" cy="248539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077" name="图片 3076" descr="a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4" name="标题 3073"/>
          <p:cNvSpPr>
            <a:spLocks noGrp="1"/>
          </p:cNvSpPr>
          <p:nvPr>
            <p:ph type="title"/>
          </p:nvPr>
        </p:nvSpPr>
        <p:spPr>
          <a:xfrm>
            <a:off x="6818630" y="260350"/>
            <a:ext cx="1868170" cy="287655"/>
          </a:xfrm>
        </p:spPr>
        <p:txBody>
          <a:bodyPr anchor="ctr" anchorCtr="0"/>
          <a:p>
            <a:pPr algn="r"/>
            <a:r>
              <a:rPr 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Server</a:t>
            </a:r>
            <a:endParaRPr lang="en-US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635" y="2154555"/>
            <a:ext cx="4444365" cy="2548890"/>
          </a:xfrm>
          <a:prstGeom prst="rect">
            <a:avLst/>
          </a:prstGeom>
        </p:spPr>
      </p:pic>
      <p:sp>
        <p:nvSpPr>
          <p:cNvPr id="41" name="文本框 40"/>
          <p:cNvSpPr txBox="1"/>
          <p:nvPr/>
        </p:nvSpPr>
        <p:spPr>
          <a:xfrm>
            <a:off x="0" y="908685"/>
            <a:ext cx="4572000" cy="357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 sz="1800"/>
          </a:p>
        </p:txBody>
      </p:sp>
      <p:sp>
        <p:nvSpPr>
          <p:cNvPr id="4" name="矩形 3"/>
          <p:cNvSpPr/>
          <p:nvPr/>
        </p:nvSpPr>
        <p:spPr>
          <a:xfrm>
            <a:off x="8395335" y="2201545"/>
            <a:ext cx="671830" cy="247396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27405"/>
            <a:ext cx="3240405" cy="172910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557145"/>
            <a:ext cx="4630420" cy="43008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077" name="图片 3076" descr="a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4" name="标题 3073"/>
          <p:cNvSpPr>
            <a:spLocks noGrp="1"/>
          </p:cNvSpPr>
          <p:nvPr>
            <p:ph type="title"/>
          </p:nvPr>
        </p:nvSpPr>
        <p:spPr>
          <a:xfrm>
            <a:off x="3218815" y="260350"/>
            <a:ext cx="5467985" cy="287655"/>
          </a:xfrm>
        </p:spPr>
        <p:txBody>
          <a:bodyPr anchor="ctr" anchorCtr="0"/>
          <a:p>
            <a:pPr algn="r"/>
            <a:r>
              <a:rPr lang="zh-CN" alt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测试</a:t>
            </a:r>
            <a:endParaRPr lang="zh-CN" altLang="en-US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42995"/>
            <a:ext cx="3275330" cy="321500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6680" y="3642360"/>
            <a:ext cx="5227320" cy="321564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6205" y="1198880"/>
            <a:ext cx="5227320" cy="207899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926205" y="856615"/>
            <a:ext cx="3048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Server</a:t>
            </a:r>
            <a:endParaRPr lang="en-US" altLang="zh-CN" sz="1600"/>
          </a:p>
        </p:txBody>
      </p:sp>
      <p:sp>
        <p:nvSpPr>
          <p:cNvPr id="12" name="文本框 11"/>
          <p:cNvSpPr txBox="1"/>
          <p:nvPr/>
        </p:nvSpPr>
        <p:spPr>
          <a:xfrm>
            <a:off x="3926205" y="3303270"/>
            <a:ext cx="3048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Client</a:t>
            </a:r>
            <a:endParaRPr lang="en-US" altLang="zh-CN" sz="1600"/>
          </a:p>
        </p:txBody>
      </p:sp>
      <p:sp>
        <p:nvSpPr>
          <p:cNvPr id="13" name="文本框 12"/>
          <p:cNvSpPr txBox="1"/>
          <p:nvPr/>
        </p:nvSpPr>
        <p:spPr>
          <a:xfrm>
            <a:off x="0" y="1198880"/>
            <a:ext cx="3275330" cy="9696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公钥注册情况、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RSA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签名生成、密码学认证成功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失败的控制台输出</a:t>
            </a:r>
            <a:endParaRPr lang="zh-CN" alt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294</Words>
  <Application>WPS 演示</Application>
  <PresentationFormat>在屏幕上显示</PresentationFormat>
  <Paragraphs>41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宋体</vt:lpstr>
      <vt:lpstr>Wingdings</vt:lpstr>
      <vt:lpstr>微软雅黑</vt:lpstr>
      <vt:lpstr>Arial Unicode MS</vt:lpstr>
      <vt:lpstr>Calibri</vt:lpstr>
      <vt:lpstr>Times New Roman</vt:lpstr>
      <vt:lpstr>Consolas</vt:lpstr>
      <vt:lpstr>默认设计模板</vt:lpstr>
      <vt:lpstr>PowerPoint 演示文稿</vt:lpstr>
      <vt:lpstr>幻灯标题</vt:lpstr>
      <vt:lpstr>幻灯标题</vt:lpstr>
      <vt:lpstr>0. 生成公私钥与注册</vt:lpstr>
      <vt:lpstr>Client</vt:lpstr>
      <vt:lpstr>Server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肖航迪</cp:lastModifiedBy>
  <cp:revision>4</cp:revision>
  <dcterms:created xsi:type="dcterms:W3CDTF">2014-03-21T03:02:00Z</dcterms:created>
  <dcterms:modified xsi:type="dcterms:W3CDTF">2026-03-25T03:39:54Z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CA7FD67F96744F41944F6E5C4E750343_13</vt:lpwstr>
  </property>
  <property fmtid="{D5CDD505-2E9C-101B-9397-08002B2CF9AE}" pid="3" name="KSOProductBuildVer">
    <vt:lpwstr>2052-12.1.0.25225</vt:lpwstr>
  </property>
</Properties>
</file>